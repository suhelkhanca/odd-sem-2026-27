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297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ECMAScrip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Module 2</a:t>
            </a:r>
            <a:br>
              <a:rPr lang="en-US" dirty="0"/>
            </a:br>
            <a:r>
              <a:rPr lang="en-US" dirty="0" err="1"/>
              <a:t>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Basics concepts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Hands 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77482E-1BC0-C705-B05A-C006018DDE44}"/>
              </a:ext>
            </a:extLst>
          </p:cNvPr>
          <p:cNvSpPr txBox="1"/>
          <p:nvPr/>
        </p:nvSpPr>
        <p:spPr>
          <a:xfrm>
            <a:off x="3033251" y="2971489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212D308E-0F86-C0A8-7F85-1B7DAE0EB95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5839" r="15839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932" y="914399"/>
            <a:ext cx="7546312" cy="984739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js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932" y="2482368"/>
            <a:ext cx="5259554" cy="2233233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i="1" dirty="0"/>
              <a:t>JavaScript</a:t>
            </a:r>
            <a:r>
              <a:rPr lang="en-IN" dirty="0"/>
              <a:t> was initially created to “make web pages alive”.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JavaScript is a cross-platform, object-oriented scripting language used to make webpages interactive (e.g., having complex animations, clickable buttons, popup menus, etc.). </a:t>
            </a:r>
            <a:endParaRPr lang="en-US" dirty="0"/>
          </a:p>
        </p:txBody>
      </p:sp>
      <p:pic>
        <p:nvPicPr>
          <p:cNvPr id="7" name="Picture Placeholder 10">
            <a:extLst>
              <a:ext uri="{FF2B5EF4-FFF2-40B4-BE49-F238E27FC236}">
                <a16:creationId xmlns:a16="http://schemas.microsoft.com/office/drawing/2014/main" id="{D3827B4B-62BA-0F0F-0B3B-AD3DAB47B23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5839" r="15839"/>
          <a:stretch>
            <a:fillRect/>
          </a:stretch>
        </p:blipFill>
        <p:spPr>
          <a:xfrm>
            <a:off x="7847305" y="419221"/>
            <a:ext cx="4344695" cy="643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3F00E-F6C3-228B-EEF9-DC0A74F2F73B}"/>
              </a:ext>
            </a:extLst>
          </p:cNvPr>
          <p:cNvSpPr txBox="1"/>
          <p:nvPr/>
        </p:nvSpPr>
        <p:spPr>
          <a:xfrm>
            <a:off x="2723536" y="685941"/>
            <a:ext cx="8622890" cy="5486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4000" b="1" i="0" dirty="0">
                <a:solidFill>
                  <a:srgbClr val="313130"/>
                </a:solidFill>
                <a:effectLst/>
                <a:latin typeface="BlinkMacSystemFont"/>
              </a:rPr>
              <a:t>Why is it called </a:t>
            </a:r>
            <a:r>
              <a:rPr lang="en-IN" sz="4000" b="1" i="0" u="sng" dirty="0">
                <a:solidFill>
                  <a:srgbClr val="313130"/>
                </a:solidFill>
                <a:effectLst/>
                <a:latin typeface="BlinkMacSystemFont"/>
              </a:rPr>
              <a:t>Java</a:t>
            </a:r>
            <a:r>
              <a:rPr lang="en-IN" sz="4000" b="1" i="0" dirty="0">
                <a:solidFill>
                  <a:srgbClr val="313130"/>
                </a:solidFill>
                <a:effectLst/>
                <a:latin typeface="BlinkMacSystemFont"/>
              </a:rPr>
              <a:t>Script?</a:t>
            </a:r>
            <a:endParaRPr lang="en-IN" sz="4000" b="0" i="0" dirty="0">
              <a:solidFill>
                <a:srgbClr val="313130"/>
              </a:solidFill>
              <a:effectLst/>
              <a:latin typeface="BlinkMacSystemFont"/>
            </a:endParaRPr>
          </a:p>
          <a:p>
            <a:pPr marL="457200" indent="-45720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313130"/>
                </a:solidFill>
                <a:effectLst/>
                <a:latin typeface="BlinkMacSystemFont"/>
              </a:rPr>
              <a:t>When JavaScript was created, it initially had another name: “</a:t>
            </a:r>
            <a:r>
              <a:rPr lang="en-IN" sz="3200" b="0" i="0" dirty="0" err="1">
                <a:solidFill>
                  <a:srgbClr val="313130"/>
                </a:solidFill>
                <a:effectLst/>
                <a:latin typeface="BlinkMacSystemFont"/>
              </a:rPr>
              <a:t>LiveScript</a:t>
            </a:r>
            <a:r>
              <a:rPr lang="en-IN" sz="3200" b="0" i="0" dirty="0">
                <a:solidFill>
                  <a:srgbClr val="313130"/>
                </a:solidFill>
                <a:effectLst/>
                <a:latin typeface="BlinkMacSystemFont"/>
              </a:rPr>
              <a:t>”. But Java was very popular at that time, so it was decided that positioning a new language as a “younger brother” of Java would help.</a:t>
            </a:r>
          </a:p>
          <a:p>
            <a:pPr marL="457200" indent="-457200"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313130"/>
                </a:solidFill>
                <a:effectLst/>
                <a:latin typeface="BlinkMacSystemFont"/>
              </a:rPr>
              <a:t>But as it evolved, JavaScript became a fully independent language with its own specification called </a:t>
            </a:r>
            <a:r>
              <a:rPr lang="en-IN" sz="3200" b="0" i="0" u="none" strike="noStrike" dirty="0">
                <a:solidFill>
                  <a:srgbClr val="436EBD"/>
                </a:solidFill>
                <a:effectLst/>
                <a:latin typeface="BlinkMacSystemFont"/>
                <a:hlinkClick r:id="rId3"/>
              </a:rPr>
              <a:t>ECMAScript</a:t>
            </a:r>
            <a:r>
              <a:rPr lang="en-IN" sz="3200" b="0" i="0" dirty="0">
                <a:solidFill>
                  <a:srgbClr val="313130"/>
                </a:solidFill>
                <a:effectLst/>
                <a:latin typeface="BlinkMacSystemFont"/>
              </a:rPr>
              <a:t>, and now it has no relation to Java at all.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/>
              <a:t>Let’s move into programming world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E212C1-8758-DDC1-F51A-C65EADEE293D}"/>
              </a:ext>
            </a:extLst>
          </p:cNvPr>
          <p:cNvSpPr txBox="1"/>
          <p:nvPr/>
        </p:nvSpPr>
        <p:spPr>
          <a:xfrm>
            <a:off x="530942" y="1219200"/>
            <a:ext cx="8613058" cy="3839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Aft>
                <a:spcPts val="900"/>
              </a:spcAft>
              <a:buNone/>
            </a:pPr>
            <a:r>
              <a:rPr lang="en-IN" sz="5400" b="1" dirty="0">
                <a:effectLst/>
                <a:latin typeface="BlinkMacSystemFont"/>
              </a:rPr>
              <a:t>Hello, world!</a:t>
            </a:r>
          </a:p>
          <a:p>
            <a:pPr marL="457200" indent="-4572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313130"/>
                </a:solidFill>
                <a:effectLst/>
                <a:latin typeface="BlinkMacSystemFont"/>
              </a:rPr>
              <a:t>The browser is a good choice for running JS code. </a:t>
            </a:r>
          </a:p>
          <a:p>
            <a:pPr marL="457200" indent="-4572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313130"/>
                </a:solidFill>
                <a:effectLst/>
                <a:latin typeface="BlinkMacSystemFont"/>
              </a:rPr>
              <a:t>We’ll keep the amount of browser-specific commands (like </a:t>
            </a:r>
            <a:r>
              <a:rPr lang="en-IN" sz="2800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2800" b="0" i="0" dirty="0">
                <a:solidFill>
                  <a:srgbClr val="313130"/>
                </a:solidFill>
                <a:effectLst/>
                <a:latin typeface="BlinkMacSystemFont"/>
              </a:rPr>
              <a:t>) to a minimum so that you don’t spend time on them if you plan to concentrate on another environment (like </a:t>
            </a:r>
            <a:r>
              <a:rPr lang="en-IN" sz="2800" b="1" i="0" dirty="0">
                <a:solidFill>
                  <a:srgbClr val="313130"/>
                </a:solidFill>
                <a:effectLst/>
                <a:latin typeface="BlinkMacSystemFont"/>
              </a:rPr>
              <a:t>Node.js*</a:t>
            </a:r>
            <a:r>
              <a:rPr lang="en-IN" sz="2800" b="0" i="0" dirty="0">
                <a:solidFill>
                  <a:srgbClr val="313130"/>
                </a:solidFill>
                <a:effectLst/>
                <a:latin typeface="BlinkMacSystemFont"/>
              </a:rPr>
              <a:t>). </a:t>
            </a:r>
          </a:p>
          <a:p>
            <a:pPr marL="457200" indent="-457200"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313130"/>
                </a:solidFill>
                <a:effectLst/>
                <a:latin typeface="BlinkMacSystemFont"/>
              </a:rPr>
              <a:t>We’ll focus on JavaScript in the browser in the next module.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Let’s code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414337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HelloWorld program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2B8109-199E-D850-2E64-0183ECB91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555" y="1865985"/>
            <a:ext cx="5048955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2A25E-F144-B980-C6BD-E6C45F1E6E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1C69A2-C05C-CEDD-2D14-B76DF95D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355" y="437535"/>
            <a:ext cx="5105467" cy="641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96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 err="1"/>
              <a:t>Mr</a:t>
            </a:r>
            <a:r>
              <a:rPr lang="en-US" dirty="0"/>
              <a:t> Suhel Khan, IC</a:t>
            </a:r>
          </a:p>
          <a:p>
            <a:r>
              <a:rPr lang="en-US" dirty="0"/>
              <a:t>Asst Professor, PUB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{76A83F38-6429-435A-B08F-1092242D9C78}TF8a9b5915-b8c7-461e-8cdd-693d48b5e32371f7b7e2_win32-4bf0b9a2ea37</Template>
  <TotalTime>26</TotalTime>
  <Words>227</Words>
  <Application>Microsoft Office PowerPoint</Application>
  <PresentationFormat>Widescreen</PresentationFormat>
  <Paragraphs>29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BlinkMacSystemFont</vt:lpstr>
      <vt:lpstr>Calibri</vt:lpstr>
      <vt:lpstr>Consolas</vt:lpstr>
      <vt:lpstr>Sabon Next LT</vt:lpstr>
      <vt:lpstr>Custom</vt:lpstr>
      <vt:lpstr>Module 2 js</vt:lpstr>
      <vt:lpstr>agenda</vt:lpstr>
      <vt:lpstr>Introduction</vt:lpstr>
      <vt:lpstr>What is js?</vt:lpstr>
      <vt:lpstr>PowerPoint Presentation</vt:lpstr>
      <vt:lpstr>Hello world!</vt:lpstr>
      <vt:lpstr>PowerPoint Presentation</vt:lpstr>
      <vt:lpstr>Let’s code</vt:lpstr>
      <vt:lpstr>PowerPoint Presentation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Suhel Khan</dc:creator>
  <cp:lastModifiedBy>Suhel Khan</cp:lastModifiedBy>
  <cp:revision>14</cp:revision>
  <dcterms:created xsi:type="dcterms:W3CDTF">2026-06-02T06:40:08Z</dcterms:created>
  <dcterms:modified xsi:type="dcterms:W3CDTF">2026-07-24T09:41:14Z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