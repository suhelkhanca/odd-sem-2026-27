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318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33184C9B-83E7-4C68-85F8-4E6CD53F7FCA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5EB7FFD-EDBD-43BF-BA64-D66CEE6AA65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0732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84C9B-83E7-4C68-85F8-4E6CD53F7FCA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B7FFD-EDBD-43BF-BA64-D66CEE6AA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5776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84C9B-83E7-4C68-85F8-4E6CD53F7FCA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B7FFD-EDBD-43BF-BA64-D66CEE6AA65E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7404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84C9B-83E7-4C68-85F8-4E6CD53F7FCA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B7FFD-EDBD-43BF-BA64-D66CEE6AA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7464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84C9B-83E7-4C68-85F8-4E6CD53F7FCA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B7FFD-EDBD-43BF-BA64-D66CEE6AA65E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9347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84C9B-83E7-4C68-85F8-4E6CD53F7FCA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B7FFD-EDBD-43BF-BA64-D66CEE6AA65E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2930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84C9B-83E7-4C68-85F8-4E6CD53F7FCA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B7FFD-EDBD-43BF-BA64-D66CEE6AA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992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84C9B-83E7-4C68-85F8-4E6CD53F7FCA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B7FFD-EDBD-43BF-BA64-D66CEE6AA65E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3905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84C9B-83E7-4C68-85F8-4E6CD53F7FCA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B7FFD-EDBD-43BF-BA64-D66CEE6AA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4145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84C9B-83E7-4C68-85F8-4E6CD53F7FCA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B7FFD-EDBD-43BF-BA64-D66CEE6AA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2659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84C9B-83E7-4C68-85F8-4E6CD53F7FCA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B7FFD-EDBD-43BF-BA64-D66CEE6AA65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79739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84C9B-83E7-4C68-85F8-4E6CD53F7FCA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B7FFD-EDBD-43BF-BA64-D66CEE6AA65E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2041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84C9B-83E7-4C68-85F8-4E6CD53F7FCA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B7FFD-EDBD-43BF-BA64-D66CEE6AA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77830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84C9B-83E7-4C68-85F8-4E6CD53F7FCA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B7FFD-EDBD-43BF-BA64-D66CEE6AA65E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77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84C9B-83E7-4C68-85F8-4E6CD53F7FCA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B7FFD-EDBD-43BF-BA64-D66CEE6AA65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03062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84C9B-83E7-4C68-85F8-4E6CD53F7FCA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B7FFD-EDBD-43BF-BA64-D66CEE6AA65E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6993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84C9B-83E7-4C68-85F8-4E6CD53F7FCA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B7FFD-EDBD-43BF-BA64-D66CEE6AA65E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4205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3184C9B-83E7-4C68-85F8-4E6CD53F7FCA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5EB7FFD-EDBD-43BF-BA64-D66CEE6AA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569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8453E-596E-33AB-D0D7-812D403FC8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Introduction to Hadoop</a:t>
            </a:r>
            <a:br>
              <a:rPr lang="en-IN" dirty="0"/>
            </a:br>
            <a:r>
              <a:rPr lang="en-IN" dirty="0"/>
              <a:t>(Mod 1)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880B10-E29B-BEEC-F8E8-79CA45824D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63471" y="4082805"/>
            <a:ext cx="3902697" cy="517475"/>
          </a:xfrm>
        </p:spPr>
        <p:txBody>
          <a:bodyPr>
            <a:normAutofit fontScale="92500"/>
          </a:bodyPr>
          <a:lstStyle/>
          <a:p>
            <a:r>
              <a:rPr lang="en-IN" dirty="0"/>
              <a:t>Prepared By: Dr. KIMMI KUMARI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7933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C931D-EF9F-79E0-914B-7F2C98ACF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4F384-96C6-F31A-E779-E1772DFED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Big Data and its importance</a:t>
            </a:r>
          </a:p>
          <a:p>
            <a:r>
              <a:rPr lang="en-IN" dirty="0"/>
              <a:t>The Hadoop</a:t>
            </a:r>
            <a:endParaRPr lang="en-US" dirty="0"/>
          </a:p>
          <a:p>
            <a:r>
              <a:rPr lang="en-IN" dirty="0"/>
              <a:t>Anatomy of a YARN</a:t>
            </a:r>
          </a:p>
        </p:txBody>
      </p:sp>
    </p:spTree>
    <p:extLst>
      <p:ext uri="{BB962C8B-B14F-4D97-AF65-F5344CB8AC3E}">
        <p14:creationId xmlns:p14="http://schemas.microsoft.com/office/powerpoint/2010/main" val="682811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78517-C429-BCB2-AFD7-E67BC835A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Big Data and its importance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17A3E-ABEF-DF50-CCDB-610C0157A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IN" dirty="0"/>
              <a:t>Big Data </a:t>
            </a:r>
            <a:r>
              <a:rPr lang="en-US" dirty="0"/>
              <a:t>is a term used for a collection of data sets that are large and complex.</a:t>
            </a:r>
          </a:p>
          <a:p>
            <a:pPr algn="just"/>
            <a:r>
              <a:rPr lang="en-IN" dirty="0"/>
              <a:t>The challenge includes </a:t>
            </a:r>
            <a:endParaRPr lang="en-US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/>
              <a:t>capturing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/>
              <a:t>curating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/>
              <a:t>storing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/>
              <a:t>searching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/>
              <a:t>sharing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/>
              <a:t>visualization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1833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F6AD3-385F-D4E2-6236-87C0C5E59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978B5D-7CFC-84C9-D71C-B038D3E496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733" t="12133" r="13348" b="10302"/>
          <a:stretch/>
        </p:blipFill>
        <p:spPr>
          <a:xfrm>
            <a:off x="1206630" y="999240"/>
            <a:ext cx="9601196" cy="4788818"/>
          </a:xfrm>
        </p:spPr>
      </p:pic>
    </p:spTree>
    <p:extLst>
      <p:ext uri="{BB962C8B-B14F-4D97-AF65-F5344CB8AC3E}">
        <p14:creationId xmlns:p14="http://schemas.microsoft.com/office/powerpoint/2010/main" val="523063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DC75A-FBEC-F182-DFB2-576D01574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v/s Big data approach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290CA-AB83-A469-52AE-4297CB82C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On the Basis of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/>
              <a:t> Usage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/>
              <a:t> Data Size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/>
              <a:t> Data Integration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/>
              <a:t> Schema </a:t>
            </a:r>
          </a:p>
          <a:p>
            <a:pPr marL="0" indent="0" algn="just">
              <a:buNone/>
            </a:pPr>
            <a:r>
              <a:rPr lang="en-US" dirty="0"/>
              <a:t>Traditional &amp; Big Data can be compared effectively.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0359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A2833-16E8-4F73-9322-50457B290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Big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FBD95-5101-D8DF-9E72-A76F7352E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Unstructured </a:t>
            </a:r>
          </a:p>
          <a:p>
            <a:r>
              <a:rPr lang="en-IN" dirty="0"/>
              <a:t>Quasi-Structured </a:t>
            </a:r>
          </a:p>
          <a:p>
            <a:r>
              <a:rPr lang="en-IN" dirty="0"/>
              <a:t>Semi-Structured </a:t>
            </a:r>
          </a:p>
          <a:p>
            <a:r>
              <a:rPr lang="en-IN" dirty="0"/>
              <a:t>Structured</a:t>
            </a:r>
          </a:p>
        </p:txBody>
      </p:sp>
    </p:spTree>
    <p:extLst>
      <p:ext uri="{BB962C8B-B14F-4D97-AF65-F5344CB8AC3E}">
        <p14:creationId xmlns:p14="http://schemas.microsoft.com/office/powerpoint/2010/main" val="365004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E2BAC-B840-DD1D-BEAE-C723A802E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Characteristics of Big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11CB1-B448-C9D6-6A02-AD43CC911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Volume</a:t>
            </a:r>
          </a:p>
          <a:p>
            <a:r>
              <a:rPr lang="en-US" dirty="0"/>
              <a:t>Velocity</a:t>
            </a:r>
          </a:p>
          <a:p>
            <a:r>
              <a:rPr lang="en-US" dirty="0"/>
              <a:t>Variety</a:t>
            </a:r>
          </a:p>
          <a:p>
            <a:r>
              <a:rPr lang="en-US" dirty="0"/>
              <a:t>Veracity </a:t>
            </a:r>
          </a:p>
          <a:p>
            <a:r>
              <a:rPr lang="en-US" dirty="0"/>
              <a:t>Value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8810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FDD74-64A6-3580-8A8B-85778FCDE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 Of Big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207C4-6D8F-D14A-9C23-E0699F6E2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Smarter HealthCare</a:t>
            </a:r>
          </a:p>
          <a:p>
            <a:r>
              <a:rPr lang="en-IN" dirty="0"/>
              <a:t> Telecom</a:t>
            </a:r>
          </a:p>
          <a:p>
            <a:r>
              <a:rPr lang="en-IN" dirty="0"/>
              <a:t> Retail</a:t>
            </a:r>
          </a:p>
          <a:p>
            <a:r>
              <a:rPr lang="en-IN" dirty="0"/>
              <a:t> Traffic control</a:t>
            </a:r>
          </a:p>
          <a:p>
            <a:r>
              <a:rPr lang="en-IN" dirty="0"/>
              <a:t> Manufacturing</a:t>
            </a:r>
          </a:p>
          <a:p>
            <a:r>
              <a:rPr lang="en-IN" dirty="0"/>
              <a:t> Search Quality</a:t>
            </a:r>
          </a:p>
        </p:txBody>
      </p:sp>
    </p:spTree>
    <p:extLst>
      <p:ext uri="{BB962C8B-B14F-4D97-AF65-F5344CB8AC3E}">
        <p14:creationId xmlns:p14="http://schemas.microsoft.com/office/powerpoint/2010/main" val="857141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AE89A-B9D6-692E-D896-6BC636E4B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Big Data Technology Landscape: No SQL(Not Only SQL)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449D7-2914-6E29-A331-6D4AC9E27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term NoSQL was first coined by Carlo </a:t>
            </a:r>
            <a:r>
              <a:rPr lang="en-US" dirty="0" err="1"/>
              <a:t>Strozzi</a:t>
            </a:r>
            <a:r>
              <a:rPr lang="en-US" dirty="0"/>
              <a:t> in 1998.</a:t>
            </a:r>
          </a:p>
          <a:p>
            <a:r>
              <a:rPr lang="en-US" dirty="0"/>
              <a:t>NoSQL is light weight, open-source, non-relational database.</a:t>
            </a:r>
          </a:p>
          <a:p>
            <a:r>
              <a:rPr lang="en-US" dirty="0"/>
              <a:t>NoSQL may </a:t>
            </a:r>
            <a:r>
              <a:rPr lang="en-IN" dirty="0"/>
              <a:t>support SQL-like query languages.</a:t>
            </a:r>
          </a:p>
          <a:p>
            <a:r>
              <a:rPr lang="en-IN" dirty="0"/>
              <a:t> </a:t>
            </a:r>
            <a:r>
              <a:rPr lang="en-US" dirty="0"/>
              <a:t>NoSQL databases are used in real-time web applications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37098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DDD1E3-CD82-3548-EDE4-A8ABEDA79C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625" t="14321" r="16572" b="14321"/>
          <a:stretch/>
        </p:blipFill>
        <p:spPr>
          <a:xfrm>
            <a:off x="1389670" y="887864"/>
            <a:ext cx="9470008" cy="489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879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478A6-8DEB-AED0-0A07-1F84AA9AB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of NoSQL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C506C-4BB1-26A5-5CC1-771AA7F55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US" dirty="0"/>
              <a:t>Can easily scale up and down</a:t>
            </a:r>
          </a:p>
          <a:p>
            <a:r>
              <a:rPr lang="en-US" dirty="0"/>
              <a:t> </a:t>
            </a:r>
            <a:r>
              <a:rPr lang="en-IN" dirty="0"/>
              <a:t>It is pretty flexible</a:t>
            </a:r>
            <a:endParaRPr lang="en-US" dirty="0"/>
          </a:p>
          <a:p>
            <a:r>
              <a:rPr lang="en-US" dirty="0"/>
              <a:t> Affordable </a:t>
            </a:r>
          </a:p>
          <a:p>
            <a:r>
              <a:rPr lang="en-US" dirty="0"/>
              <a:t> Easily Implemented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5646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14D0C-F270-9C1E-BA98-0F8A85433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NoSQL Databases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2D347-6593-0FE2-C481-A012EDF2B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Key-value Pair Based </a:t>
            </a:r>
          </a:p>
          <a:p>
            <a:r>
              <a:rPr lang="en-US" dirty="0"/>
              <a:t>Column-oriented Graph </a:t>
            </a:r>
          </a:p>
          <a:p>
            <a:r>
              <a:rPr lang="en-US" dirty="0"/>
              <a:t>Graphs based </a:t>
            </a:r>
          </a:p>
          <a:p>
            <a:r>
              <a:rPr lang="en-US" dirty="0"/>
              <a:t>Document-oriented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8481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4259A7-D0EA-BFE6-AAE6-F37F6B851C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789" t="30791" r="13866" b="25911"/>
          <a:stretch/>
        </p:blipFill>
        <p:spPr>
          <a:xfrm>
            <a:off x="1253765" y="1470581"/>
            <a:ext cx="9803876" cy="4081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360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3D0535-1551-E383-8086-CF2DAC73A9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458" t="26117" r="19510" b="18076"/>
          <a:stretch/>
        </p:blipFill>
        <p:spPr>
          <a:xfrm>
            <a:off x="3082564" y="2450969"/>
            <a:ext cx="6221691" cy="3657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3CDE44-1E6F-4B91-68F4-685D6A6778EF}"/>
              </a:ext>
            </a:extLst>
          </p:cNvPr>
          <p:cNvSpPr txBox="1"/>
          <p:nvPr/>
        </p:nvSpPr>
        <p:spPr>
          <a:xfrm>
            <a:off x="3883843" y="1502731"/>
            <a:ext cx="479824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/>
              <a:t>Key-value Pair Based </a:t>
            </a:r>
          </a:p>
        </p:txBody>
      </p:sp>
    </p:spTree>
    <p:extLst>
      <p:ext uri="{BB962C8B-B14F-4D97-AF65-F5344CB8AC3E}">
        <p14:creationId xmlns:p14="http://schemas.microsoft.com/office/powerpoint/2010/main" val="1723745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D4D99-435B-C231-A142-BDBA33CDC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Column-based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FB6218-8920-9C52-102F-A31C2A7DC40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753" t="36426" r="11314" b="20275"/>
          <a:stretch/>
        </p:blipFill>
        <p:spPr>
          <a:xfrm>
            <a:off x="2196445" y="2630078"/>
            <a:ext cx="7616857" cy="345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5753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FB105-92A8-F4A1-9CEF-3B88F5350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Document-Oriented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DE6C54-1E5B-21A6-8B33-37D0722649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412" t="44016" r="18583" b="27972"/>
          <a:stretch/>
        </p:blipFill>
        <p:spPr>
          <a:xfrm>
            <a:off x="2377125" y="2630079"/>
            <a:ext cx="7437749" cy="278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06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E28DF-266D-E2B1-5285-B7EDB2D53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Graph-Based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09F0EC-DE20-B97C-19C7-522DA07474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712" t="21306" r="22912" b="11340"/>
          <a:stretch/>
        </p:blipFill>
        <p:spPr>
          <a:xfrm>
            <a:off x="4110087" y="2488675"/>
            <a:ext cx="5288438" cy="359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3229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C93D0-43B9-58C5-F889-199FBC8D9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Hadoop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E9AB8-67CD-9A3D-8181-B225FBE47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Open-source software framework</a:t>
            </a:r>
          </a:p>
          <a:p>
            <a:r>
              <a:rPr lang="en-US" dirty="0"/>
              <a:t>licensed under the Apache v2 license</a:t>
            </a:r>
            <a:endParaRPr lang="en-IN" dirty="0"/>
          </a:p>
          <a:p>
            <a:r>
              <a:rPr lang="en-US" dirty="0"/>
              <a:t>written in the Java programming language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8139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2933C-919A-16F8-AF4A-D9ECA7B47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Hadoop Architecture Overview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558F12-3B76-B38A-F3E6-9ECA342CC4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8125" y="2557463"/>
            <a:ext cx="6635750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1524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EE77E-CC24-AF03-670A-4B10EAA0B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History of Hadoop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A43393-CC94-1D3C-A970-EEE73395ED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767" t="38900" r="19356" b="24124"/>
          <a:stretch/>
        </p:blipFill>
        <p:spPr>
          <a:xfrm>
            <a:off x="1800520" y="2667786"/>
            <a:ext cx="8031637" cy="2535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0202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30525-BE0F-B83A-E4C7-3B89C6E9B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CASE OF HADOOP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47FF0-7CA8-A5C0-3ECF-C422978FC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523357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ClickStream</a:t>
            </a:r>
            <a:r>
              <a:rPr lang="en-US" dirty="0"/>
              <a:t> analysis using Hadoop provides three key benefits: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</a:t>
            </a:r>
            <a:r>
              <a:rPr lang="en-IN" dirty="0"/>
              <a:t>Understand customer </a:t>
            </a:r>
            <a:r>
              <a:rPr lang="en-IN" dirty="0" err="1"/>
              <a:t>behavior</a:t>
            </a:r>
            <a:endParaRPr lang="en-IN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 </a:t>
            </a:r>
            <a:r>
              <a:rPr lang="en-US" dirty="0"/>
              <a:t>Store years of data without ample incremental cost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</a:t>
            </a:r>
            <a:r>
              <a:rPr lang="en-IN" dirty="0"/>
              <a:t>Organize </a:t>
            </a:r>
            <a:r>
              <a:rPr lang="en-IN" dirty="0" err="1"/>
              <a:t>ClickStream</a:t>
            </a:r>
            <a:r>
              <a:rPr lang="en-IN" dirty="0"/>
              <a:t> data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 Improve User’s business</a:t>
            </a:r>
          </a:p>
        </p:txBody>
      </p:sp>
    </p:spTree>
    <p:extLst>
      <p:ext uri="{BB962C8B-B14F-4D97-AF65-F5344CB8AC3E}">
        <p14:creationId xmlns:p14="http://schemas.microsoft.com/office/powerpoint/2010/main" val="39552707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F0D09-7383-FD34-3233-22D61555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Distributed File 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91B4EF-5429-E469-1021-901105CB77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443" t="27079" r="9923" b="23849"/>
          <a:stretch/>
        </p:blipFill>
        <p:spPr>
          <a:xfrm>
            <a:off x="4506012" y="2699035"/>
            <a:ext cx="4100660" cy="336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3747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89405-98A9-78CE-E6EF-5D5A0E688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Distributed File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4FF66-A86A-4C11-A609-328FE9021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DFS has two components in its services, and these are as follows: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</a:t>
            </a:r>
            <a:r>
              <a:rPr lang="en-IN" dirty="0"/>
              <a:t>Local Transparency</a:t>
            </a: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</a:t>
            </a:r>
            <a:r>
              <a:rPr lang="en-IN" dirty="0"/>
              <a:t>Redundancy</a:t>
            </a:r>
          </a:p>
        </p:txBody>
      </p:sp>
    </p:spTree>
    <p:extLst>
      <p:ext uri="{BB962C8B-B14F-4D97-AF65-F5344CB8AC3E}">
        <p14:creationId xmlns:p14="http://schemas.microsoft.com/office/powerpoint/2010/main" val="34890256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B377D-991E-E890-B9E2-C500EF296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Distributed File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0C6F7-57AA-5840-2760-E774A9FCB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US" dirty="0"/>
              <a:t>There are several applications of the distributed file system. Some of them are as follows: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</a:t>
            </a:r>
            <a:r>
              <a:rPr lang="en-IN" dirty="0"/>
              <a:t>Hadoop</a:t>
            </a: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</a:t>
            </a:r>
            <a:r>
              <a:rPr lang="en-IN" dirty="0"/>
              <a:t>NFS (Network File System)</a:t>
            </a: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</a:t>
            </a:r>
            <a:r>
              <a:rPr lang="en-IN" dirty="0"/>
              <a:t>SMB (Server Message Block)</a:t>
            </a: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</a:t>
            </a:r>
            <a:r>
              <a:rPr lang="en-IN" dirty="0"/>
              <a:t>NetWare</a:t>
            </a:r>
          </a:p>
        </p:txBody>
      </p:sp>
    </p:spTree>
    <p:extLst>
      <p:ext uri="{BB962C8B-B14F-4D97-AF65-F5344CB8AC3E}">
        <p14:creationId xmlns:p14="http://schemas.microsoft.com/office/powerpoint/2010/main" val="30942222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75D58-7C68-D8B1-40FC-4CAD1481B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Hadoop Distributed File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78001-816D-9929-6C1D-5680A0424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Block structured file system</a:t>
            </a:r>
          </a:p>
          <a:p>
            <a:r>
              <a:rPr lang="en-IN" dirty="0"/>
              <a:t> Master/Slave Architecture</a:t>
            </a:r>
          </a:p>
          <a:p>
            <a:r>
              <a:rPr lang="en-IN" dirty="0"/>
              <a:t> support Java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4712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3E21C-CE7A-ABD2-651F-8B46024B6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Name Node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0E5A1-1BB2-7B9C-BE4A-DAA982E78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US" dirty="0"/>
              <a:t>Master node in the Apache Hadoop HDFS Architecture.</a:t>
            </a:r>
          </a:p>
          <a:p>
            <a:r>
              <a:rPr lang="en-US" dirty="0"/>
              <a:t> </a:t>
            </a:r>
            <a:r>
              <a:rPr lang="en-IN" dirty="0"/>
              <a:t>Highly available server 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43906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2BF87-862F-1098-C20F-56B73CC31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Node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54E62-8CF2-63D3-B806-39BD329D7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Slave nodes in HDFS</a:t>
            </a:r>
          </a:p>
          <a:p>
            <a:r>
              <a:rPr lang="en-IN" dirty="0"/>
              <a:t> Commodity hardware</a:t>
            </a:r>
          </a:p>
          <a:p>
            <a:r>
              <a:rPr lang="en-IN" dirty="0"/>
              <a:t> Stores the data</a:t>
            </a:r>
          </a:p>
        </p:txBody>
      </p:sp>
    </p:spTree>
    <p:extLst>
      <p:ext uri="{BB962C8B-B14F-4D97-AF65-F5344CB8AC3E}">
        <p14:creationId xmlns:p14="http://schemas.microsoft.com/office/powerpoint/2010/main" val="39506254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9D25E-7773-D67A-21B7-BA323D530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7127B-1301-D1E4-FE78-074275C8F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US" dirty="0"/>
              <a:t>Smallest continuous location on your hard drive</a:t>
            </a:r>
          </a:p>
          <a:p>
            <a:r>
              <a:rPr lang="en-US" dirty="0"/>
              <a:t> Store the data as a collection of blocks</a:t>
            </a:r>
          </a:p>
          <a:p>
            <a:r>
              <a:rPr lang="en-US" dirty="0"/>
              <a:t> Default size of each block is 128 MB in Apache Hadoop 2.x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F57032-665A-92A5-28E8-4888AD3DA5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490" t="23779" r="27319" b="55052"/>
          <a:stretch/>
        </p:blipFill>
        <p:spPr>
          <a:xfrm>
            <a:off x="2696066" y="4216400"/>
            <a:ext cx="6363094" cy="145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7109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8FBD08-C626-E9A3-7072-FF52F22711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459" t="19381" r="19123" b="14502"/>
          <a:stretch/>
        </p:blipFill>
        <p:spPr>
          <a:xfrm>
            <a:off x="1291472" y="1181517"/>
            <a:ext cx="9653048" cy="4534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5792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AF3EE-40C6-4107-C650-7FD94E0AE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Secondary Name Node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7E1C4-C192-9D5D-6669-E52F239F5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US" dirty="0"/>
              <a:t>Third daemon or a process</a:t>
            </a:r>
          </a:p>
          <a:p>
            <a:r>
              <a:rPr lang="en-US" dirty="0"/>
              <a:t> </a:t>
            </a:r>
            <a:r>
              <a:rPr lang="en-IN" dirty="0"/>
              <a:t>Helper daemon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B94B24-E45F-D879-A8DE-8824C886A4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644" t="39863" r="24150" b="27148"/>
          <a:stretch/>
        </p:blipFill>
        <p:spPr>
          <a:xfrm>
            <a:off x="2573517" y="3516197"/>
            <a:ext cx="6730739" cy="2262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9215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9B576-6415-F2E6-6572-1EFB0EDD8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Replication Management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54C3D0-004E-C0F3-F8CA-568D0C5C46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361" t="36151" r="13092" b="14321"/>
          <a:stretch/>
        </p:blipFill>
        <p:spPr>
          <a:xfrm>
            <a:off x="3563331" y="2479249"/>
            <a:ext cx="5674937" cy="3582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743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9F6A8-B98B-EC06-A3E4-03D0DCE0D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Rack Awareness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D724EF-71B5-4492-F612-CE746C5623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861" t="21031" r="17191" b="19863"/>
          <a:stretch/>
        </p:blipFill>
        <p:spPr>
          <a:xfrm>
            <a:off x="2375555" y="2479249"/>
            <a:ext cx="7918515" cy="373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0136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4655C-242C-76D6-2920-58B8C43D4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Hadoop 1.0 Architecture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0DED0-9327-5CBF-F97D-C3EB18B41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Expensive</a:t>
            </a:r>
          </a:p>
          <a:p>
            <a:r>
              <a:rPr lang="en-IN" dirty="0"/>
              <a:t> </a:t>
            </a:r>
            <a:r>
              <a:rPr lang="en-US" dirty="0"/>
              <a:t>Limit on the number of objects </a:t>
            </a:r>
          </a:p>
          <a:p>
            <a:r>
              <a:rPr lang="en-US" dirty="0"/>
              <a:t> </a:t>
            </a:r>
            <a:r>
              <a:rPr lang="en-IN" dirty="0"/>
              <a:t>Overwhelmed with load</a:t>
            </a:r>
          </a:p>
          <a:p>
            <a:endParaRPr lang="en-IN" dirty="0"/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</a:t>
            </a:r>
            <a:r>
              <a:rPr lang="en-US" dirty="0"/>
              <a:t>In Hadoop 2.x, this is resolved with the help of HDFS Federation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00300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3D572-F49A-E575-8C0E-DA099FE02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HDFS Federation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9A431-6C1A-246E-0CE6-C357B5590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US" dirty="0"/>
              <a:t>Name Nodes are independent of each other</a:t>
            </a:r>
          </a:p>
          <a:p>
            <a:r>
              <a:rPr lang="en-US" dirty="0"/>
              <a:t> Data Nodes are common storage for blocks</a:t>
            </a:r>
          </a:p>
          <a:p>
            <a:r>
              <a:rPr lang="en-US" dirty="0"/>
              <a:t> Data Nodes shared by all Name Nodes</a:t>
            </a:r>
          </a:p>
          <a:p>
            <a:r>
              <a:rPr lang="en-US" dirty="0"/>
              <a:t> Active-Passive Name Node handles failover automatically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81603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870C5-EF69-9E0D-2A08-992E37D63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Passive &amp; Active </a:t>
            </a:r>
            <a:r>
              <a:rPr lang="en-IN" dirty="0" err="1"/>
              <a:t>NameNode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E0C786-DDDA-A131-8E5B-ABFAA346C9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520" t="39588" r="18042" b="26048"/>
          <a:stretch/>
        </p:blipFill>
        <p:spPr>
          <a:xfrm>
            <a:off x="3593183" y="2820360"/>
            <a:ext cx="5699331" cy="2724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9315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B61AB-608E-F2B7-B3F2-911B12991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Anatomy of File Read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95B020-BAE7-1EE5-3F40-4074D03B18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309" t="19657" r="20670" b="16839"/>
          <a:stretch/>
        </p:blipFill>
        <p:spPr>
          <a:xfrm>
            <a:off x="1998481" y="2460395"/>
            <a:ext cx="7805395" cy="370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894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AEEE7-1C28-35F4-BDD3-6CFD8F93C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Anatomy of File Write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07CC6B-F9AF-D350-1048-8E05850C9F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789" t="30103" r="17191" b="12028"/>
          <a:stretch/>
        </p:blipFill>
        <p:spPr>
          <a:xfrm>
            <a:off x="2300138" y="2498103"/>
            <a:ext cx="7805395" cy="359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7264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9E704F-67FE-86D1-477D-FE48D63CDA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469" t="14983" r="19588" b="9141"/>
          <a:stretch/>
        </p:blipFill>
        <p:spPr>
          <a:xfrm>
            <a:off x="1395165" y="980388"/>
            <a:ext cx="9492793" cy="5203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5224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DE0797-3D25-895E-D096-9022C8F5E0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938" t="19382" r="11829" b="18213"/>
          <a:stretch/>
        </p:blipFill>
        <p:spPr>
          <a:xfrm>
            <a:off x="1319753" y="1289115"/>
            <a:ext cx="9709607" cy="4279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5485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3C44B-6E23-1FA3-4A0E-E86AF3AB0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Hadoop </a:t>
            </a:r>
            <a:r>
              <a:rPr lang="en-IN" dirty="0" err="1"/>
              <a:t>Mapreduce</a:t>
            </a:r>
            <a:r>
              <a:rPr lang="en-IN" dirty="0"/>
              <a:t> paradigm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42338-72D1-0DF5-09AF-FA3BDA84D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Storing and processing large datasets.</a:t>
            </a:r>
          </a:p>
          <a:p>
            <a:r>
              <a:rPr lang="en-US" dirty="0"/>
              <a:t>Ranging in size from gigabytes to petabytes.</a:t>
            </a:r>
          </a:p>
          <a:p>
            <a:r>
              <a:rPr lang="en-US" dirty="0"/>
              <a:t> Allows parallel processing over the 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10427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E08BD-BE0E-361D-247D-4FD3DEE14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Hadoop?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E37D6-E5B9-52CB-568C-1E538304D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655332"/>
          </a:xfrm>
        </p:spPr>
        <p:txBody>
          <a:bodyPr>
            <a:normAutofit fontScale="77500" lnSpcReduction="20000"/>
          </a:bodyPr>
          <a:lstStyle/>
          <a:p>
            <a:r>
              <a:rPr lang="en-IN" dirty="0"/>
              <a:t> </a:t>
            </a:r>
            <a:r>
              <a:rPr lang="en-US" dirty="0"/>
              <a:t>Cost Effective System </a:t>
            </a:r>
          </a:p>
          <a:p>
            <a:r>
              <a:rPr lang="en-US" dirty="0"/>
              <a:t>Computing power </a:t>
            </a:r>
          </a:p>
          <a:p>
            <a:r>
              <a:rPr lang="en-US" dirty="0"/>
              <a:t>Scalability </a:t>
            </a:r>
          </a:p>
          <a:p>
            <a:r>
              <a:rPr lang="en-US" dirty="0"/>
              <a:t>Storage flexibility  </a:t>
            </a:r>
          </a:p>
          <a:p>
            <a:r>
              <a:rPr lang="en-US" dirty="0"/>
              <a:t>Inherent data protection </a:t>
            </a:r>
          </a:p>
          <a:p>
            <a:r>
              <a:rPr lang="en-US" dirty="0"/>
              <a:t>Varied Data Sources </a:t>
            </a:r>
          </a:p>
          <a:p>
            <a:r>
              <a:rPr lang="en-US" dirty="0"/>
              <a:t>Fault-Tolerant </a:t>
            </a:r>
          </a:p>
          <a:p>
            <a:r>
              <a:rPr lang="en-US" dirty="0"/>
              <a:t>Highly Available </a:t>
            </a:r>
          </a:p>
          <a:p>
            <a:r>
              <a:rPr lang="en-US" dirty="0"/>
              <a:t>High Throughput </a:t>
            </a:r>
          </a:p>
          <a:p>
            <a:r>
              <a:rPr lang="en-US" dirty="0"/>
              <a:t>Multiple Languages Supported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01089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001F2-5892-B909-9F39-72BE7E876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Traditional restaurant </a:t>
            </a:r>
            <a:r>
              <a:rPr lang="en-IN" dirty="0" err="1"/>
              <a:t>scenerio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D40E06-5900-D258-E5F4-85B20B3D09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625" t="16633" r="10000" b="14321"/>
          <a:stretch/>
        </p:blipFill>
        <p:spPr>
          <a:xfrm>
            <a:off x="1370423" y="2488676"/>
            <a:ext cx="9677398" cy="3751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8683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E35FC-67C1-74B0-C330-A2CA89FCC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Traditional Scenario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7FCC6A-9A60-4D7D-F643-50A8D7292A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78" t="14433" r="10626" b="20687"/>
          <a:stretch/>
        </p:blipFill>
        <p:spPr>
          <a:xfrm>
            <a:off x="1213309" y="2488677"/>
            <a:ext cx="9765382" cy="351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6232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CA5A3-6A7D-819E-8160-9890BF44D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Distributed Processing Scenario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9B5770-58BA-1D16-4231-27511EAA03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975" t="29141" r="9845" b="8453"/>
          <a:stretch/>
        </p:blipFill>
        <p:spPr>
          <a:xfrm>
            <a:off x="1295402" y="2513988"/>
            <a:ext cx="9775596" cy="363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0919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524C-C694-1EC5-C472-FF31AEEDE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Distributed Processing Scenario Failure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02A956-5FC4-0030-38CB-F0CE2DD8B3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464" t="15533" r="10625" b="16288"/>
          <a:stretch/>
        </p:blipFill>
        <p:spPr>
          <a:xfrm>
            <a:off x="1885360" y="2535811"/>
            <a:ext cx="9011238" cy="3553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6636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4CF0E-9093-C9C1-202A-C0456C83A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Solution of Restaurant problem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8CAE95-9F38-C0DF-38B3-C700892C97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124" t="25705" r="10077" b="12165"/>
          <a:stretch/>
        </p:blipFill>
        <p:spPr>
          <a:xfrm>
            <a:off x="1112362" y="2516956"/>
            <a:ext cx="9851011" cy="361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0471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C8190-EBE5-A069-2B1C-0C8619088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Hadoop in Restaurant Analogy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393FC2-2E7D-D7D7-E07B-277A992093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768" t="34609" r="15567" b="10162"/>
          <a:stretch/>
        </p:blipFill>
        <p:spPr>
          <a:xfrm>
            <a:off x="1849225" y="2460396"/>
            <a:ext cx="8493550" cy="3535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7512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D4BB-10A8-D343-691A-53656AC22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Map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352BE-9E9F-3655-EA56-D8D09B456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Process independent chunks</a:t>
            </a:r>
          </a:p>
          <a:p>
            <a:r>
              <a:rPr lang="en-IN" dirty="0"/>
              <a:t> Parallel manner</a:t>
            </a:r>
          </a:p>
          <a:p>
            <a:r>
              <a:rPr lang="en-IN" dirty="0"/>
              <a:t> Stored as intermediate data</a:t>
            </a:r>
          </a:p>
        </p:txBody>
      </p:sp>
    </p:spTree>
    <p:extLst>
      <p:ext uri="{BB962C8B-B14F-4D97-AF65-F5344CB8AC3E}">
        <p14:creationId xmlns:p14="http://schemas.microsoft.com/office/powerpoint/2010/main" val="16415963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75BD4-7197-9795-0AE1-CB4A0A5C2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Reduce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CDBCE-D58E-EA94-A049-DE0AB4A38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US" dirty="0"/>
              <a:t>Sorts the output based on key</a:t>
            </a:r>
          </a:p>
          <a:p>
            <a:r>
              <a:rPr lang="en-US" dirty="0"/>
              <a:t> Reduced output by combining the output from various mappers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88734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440516-0480-F893-7C6D-CAE5CA3316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985" t="13608" r="13324" b="7492"/>
          <a:stretch/>
        </p:blipFill>
        <p:spPr>
          <a:xfrm>
            <a:off x="1263193" y="876694"/>
            <a:ext cx="9737888" cy="5203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6769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29491-6AB0-5866-E739-E110AFF98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Map-reduce daemons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DF4BB-410A-9E56-CC93-37FDDBF61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Job Trackers </a:t>
            </a:r>
          </a:p>
          <a:p>
            <a:r>
              <a:rPr lang="en-IN" dirty="0"/>
              <a:t>Task Trackers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736293-00C1-8347-9FA0-FA30A46FB9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386" t="33333" r="15644" b="24811"/>
          <a:stretch/>
        </p:blipFill>
        <p:spPr>
          <a:xfrm>
            <a:off x="3459638" y="2556932"/>
            <a:ext cx="7871382" cy="2870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7537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ECA9A-DB0F-03EB-ADF5-EB685293E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JobTracker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CA5FF-152D-966D-11E2-2D1500133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Master daemon</a:t>
            </a:r>
          </a:p>
          <a:p>
            <a:r>
              <a:rPr lang="en-IN" dirty="0"/>
              <a:t> Monitor all running tasks</a:t>
            </a:r>
          </a:p>
          <a:p>
            <a:r>
              <a:rPr lang="en-IN" dirty="0"/>
              <a:t> </a:t>
            </a:r>
            <a:r>
              <a:rPr lang="en-US" dirty="0"/>
              <a:t>If task failed then rescheduling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90561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D8774-E498-D5B2-35AC-F4C23A4F8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Task Tracker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B4B32-806C-A5F7-D2E5-76FD05979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US" dirty="0"/>
              <a:t>Single Task Tracker per slave</a:t>
            </a:r>
          </a:p>
          <a:p>
            <a:r>
              <a:rPr lang="en-US" dirty="0"/>
              <a:t> Continuously sends heartbeat message to Job Tracker</a:t>
            </a:r>
          </a:p>
          <a:p>
            <a:r>
              <a:rPr lang="en-US" dirty="0"/>
              <a:t> If no heartbeat message then task will be allocated to other Task Trackers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51160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FDC89-669D-C9B1-81F8-EFF26BAE4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Map-reduce execution pipeline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1CC2EB-4770-8C8E-2F82-4D4FB5323D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294" t="14321" r="11623" b="13265"/>
          <a:stretch/>
        </p:blipFill>
        <p:spPr>
          <a:xfrm>
            <a:off x="1458012" y="2575263"/>
            <a:ext cx="9275975" cy="3448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39992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CD36D-E6E1-ABF2-C1FA-72240C9CA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Mapper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7693E-E663-DBA5-3D13-8C76AF229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M</a:t>
            </a:r>
            <a:r>
              <a:rPr lang="en-US" dirty="0"/>
              <a:t>aps the input key-value pairs.</a:t>
            </a:r>
          </a:p>
          <a:p>
            <a:r>
              <a:rPr lang="en-US" dirty="0"/>
              <a:t>A set of intermediate key-value pairs is generated.</a:t>
            </a:r>
          </a:p>
          <a:p>
            <a:r>
              <a:rPr lang="en-US" dirty="0"/>
              <a:t> </a:t>
            </a:r>
            <a:r>
              <a:rPr lang="en-IN" b="1" dirty="0"/>
              <a:t>Phases</a:t>
            </a:r>
            <a:r>
              <a:rPr lang="en-US" b="1" dirty="0"/>
              <a:t>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</a:t>
            </a:r>
            <a:r>
              <a:rPr lang="en-IN" dirty="0"/>
              <a:t>Record Reader</a:t>
            </a: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</a:t>
            </a:r>
            <a:r>
              <a:rPr lang="en-IN" dirty="0"/>
              <a:t>Map</a:t>
            </a: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</a:t>
            </a:r>
            <a:r>
              <a:rPr lang="en-IN" dirty="0"/>
              <a:t>Combiner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 Partitioner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021654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4367E-8A8F-F326-0FC7-2F06362CA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Reducer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40830-3E5A-9C32-A3E2-C56CF1F4B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Shuffle and sort</a:t>
            </a:r>
          </a:p>
          <a:p>
            <a:r>
              <a:rPr lang="en-IN" dirty="0"/>
              <a:t> Reducer</a:t>
            </a:r>
          </a:p>
          <a:p>
            <a:r>
              <a:rPr lang="en-IN" dirty="0"/>
              <a:t> Output format</a:t>
            </a:r>
          </a:p>
        </p:txBody>
      </p:sp>
    </p:spTree>
    <p:extLst>
      <p:ext uri="{BB962C8B-B14F-4D97-AF65-F5344CB8AC3E}">
        <p14:creationId xmlns:p14="http://schemas.microsoft.com/office/powerpoint/2010/main" val="5054902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55903F-FCA6-B6B6-01B6-D37FF90D35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216" t="14709" r="12165" b="9415"/>
          <a:stretch/>
        </p:blipFill>
        <p:spPr>
          <a:xfrm>
            <a:off x="1272619" y="827202"/>
            <a:ext cx="9775595" cy="5203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19819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75CAE-895F-4B2A-76DE-A13B01D3D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MapReduce Execution Framework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A7186-9D21-AFE2-D940-05DE4F41A3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519" t="21031" r="15336" b="17801"/>
          <a:stretch/>
        </p:blipFill>
        <p:spPr>
          <a:xfrm>
            <a:off x="1875934" y="2545237"/>
            <a:ext cx="8917757" cy="3139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12597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9639E-ADDF-E007-6B6F-BDE4D604B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Yarn Architecture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60A635-1496-C753-7F72-29E0376E3E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279" t="21993" r="16959" b="20413"/>
          <a:stretch/>
        </p:blipFill>
        <p:spPr>
          <a:xfrm>
            <a:off x="1599414" y="2444511"/>
            <a:ext cx="8993172" cy="3431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54692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AF8EF-BFED-7FAE-3703-9B29E41E1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YARN(Yet Another Resource Negotiator)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F4D1E-97EC-2B79-2422-E2D762536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US" dirty="0"/>
              <a:t>Splitting the </a:t>
            </a:r>
            <a:r>
              <a:rPr lang="en-US" dirty="0" err="1"/>
              <a:t>JobTracker</a:t>
            </a:r>
            <a:r>
              <a:rPr lang="en-US" dirty="0"/>
              <a:t> responsibility of resource management </a:t>
            </a:r>
          </a:p>
          <a:p>
            <a:r>
              <a:rPr lang="en-US" dirty="0"/>
              <a:t> Job scheduling </a:t>
            </a:r>
            <a:r>
              <a:rPr lang="en-US"/>
              <a:t>into separate </a:t>
            </a:r>
            <a:r>
              <a:rPr lang="en-US" dirty="0"/>
              <a:t>daemons.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735DE0-0D1C-6089-DFA0-50344736E5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634" t="26941" r="21134" b="16014"/>
          <a:stretch/>
        </p:blipFill>
        <p:spPr>
          <a:xfrm>
            <a:off x="6561056" y="2953033"/>
            <a:ext cx="4561784" cy="292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73431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4812E-4CD3-5AC5-BD3A-6FBE6CF4F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YARN daemons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BE4FD-6B19-11BA-2A89-AFC96726B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Global resource manager</a:t>
            </a:r>
          </a:p>
          <a:p>
            <a:r>
              <a:rPr lang="en-IN" dirty="0"/>
              <a:t> Node manager</a:t>
            </a:r>
          </a:p>
          <a:p>
            <a:r>
              <a:rPr lang="en-IN" dirty="0"/>
              <a:t> Application master</a:t>
            </a:r>
          </a:p>
        </p:txBody>
      </p:sp>
    </p:spTree>
    <p:extLst>
      <p:ext uri="{BB962C8B-B14F-4D97-AF65-F5344CB8AC3E}">
        <p14:creationId xmlns:p14="http://schemas.microsoft.com/office/powerpoint/2010/main" val="87748441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2231A-2216-80FB-5646-88254B0A3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YARN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85DF41-97C7-B956-F999-75029873E7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620" t="28866" r="16881" b="11889"/>
          <a:stretch/>
        </p:blipFill>
        <p:spPr>
          <a:xfrm>
            <a:off x="1904214" y="2667785"/>
            <a:ext cx="8229600" cy="337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20632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8142CBC-B186-F1A9-7811-B12E0C8150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840" t="27491" r="29948" b="30722"/>
          <a:stretch/>
        </p:blipFill>
        <p:spPr>
          <a:xfrm>
            <a:off x="1395168" y="1272619"/>
            <a:ext cx="9483364" cy="474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2147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205</TotalTime>
  <Words>754</Words>
  <Application>Microsoft Office PowerPoint</Application>
  <PresentationFormat>Widescreen</PresentationFormat>
  <Paragraphs>179</Paragraphs>
  <Slides>63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7" baseType="lpstr">
      <vt:lpstr>Arial</vt:lpstr>
      <vt:lpstr>Garamond</vt:lpstr>
      <vt:lpstr>Wingdings</vt:lpstr>
      <vt:lpstr>Organic</vt:lpstr>
      <vt:lpstr>Introduction to Hadoop (Mod 1)</vt:lpstr>
      <vt:lpstr>Contents</vt:lpstr>
      <vt:lpstr>Introduction to Big Data and its importance</vt:lpstr>
      <vt:lpstr> </vt:lpstr>
      <vt:lpstr>Traditional v/s Big data approach </vt:lpstr>
      <vt:lpstr>Types of Big Data</vt:lpstr>
      <vt:lpstr>Characteristics of Big Data</vt:lpstr>
      <vt:lpstr>Applications Of Big Data</vt:lpstr>
      <vt:lpstr>The Big Data Technology Landscape: No SQL(Not Only SQL)</vt:lpstr>
      <vt:lpstr>PowerPoint Presentation</vt:lpstr>
      <vt:lpstr>Advantages of NoSQL</vt:lpstr>
      <vt:lpstr>Types of NoSQL Databases</vt:lpstr>
      <vt:lpstr>PowerPoint Presentation</vt:lpstr>
      <vt:lpstr>PowerPoint Presentation</vt:lpstr>
      <vt:lpstr>Column-based</vt:lpstr>
      <vt:lpstr>Document-Oriented</vt:lpstr>
      <vt:lpstr>Graph-Based</vt:lpstr>
      <vt:lpstr>Hadoop</vt:lpstr>
      <vt:lpstr>Hadoop Architecture Overview</vt:lpstr>
      <vt:lpstr>History of Hadoop </vt:lpstr>
      <vt:lpstr>USE CASE OF HADOOP</vt:lpstr>
      <vt:lpstr>Distributed File System</vt:lpstr>
      <vt:lpstr>Distributed File System</vt:lpstr>
      <vt:lpstr>Applications of Distributed File System</vt:lpstr>
      <vt:lpstr>Hadoop Distributed File System</vt:lpstr>
      <vt:lpstr>Name Node</vt:lpstr>
      <vt:lpstr>Data Node</vt:lpstr>
      <vt:lpstr>Blocks</vt:lpstr>
      <vt:lpstr>PowerPoint Presentation</vt:lpstr>
      <vt:lpstr>Secondary Name Node</vt:lpstr>
      <vt:lpstr>Replication Management</vt:lpstr>
      <vt:lpstr>Rack Awareness</vt:lpstr>
      <vt:lpstr>Limitations of Hadoop 1.0 Architecture</vt:lpstr>
      <vt:lpstr>HDFS Federation</vt:lpstr>
      <vt:lpstr>Passive &amp; Active NameNode</vt:lpstr>
      <vt:lpstr>Anatomy of File Read</vt:lpstr>
      <vt:lpstr>Anatomy of File Write</vt:lpstr>
      <vt:lpstr>PowerPoint Presentation</vt:lpstr>
      <vt:lpstr>PowerPoint Presentation</vt:lpstr>
      <vt:lpstr>Hadoop Mapreduce paradigm</vt:lpstr>
      <vt:lpstr>Why Hadoop?</vt:lpstr>
      <vt:lpstr>Traditional restaurant scenerio</vt:lpstr>
      <vt:lpstr>Traditional Scenario</vt:lpstr>
      <vt:lpstr>Distributed Processing Scenario</vt:lpstr>
      <vt:lpstr>Distributed Processing Scenario Failure</vt:lpstr>
      <vt:lpstr>Solution of Restaurant problem</vt:lpstr>
      <vt:lpstr>Hadoop in Restaurant Analogy</vt:lpstr>
      <vt:lpstr>Map tasks</vt:lpstr>
      <vt:lpstr>Reduce task</vt:lpstr>
      <vt:lpstr>PowerPoint Presentation</vt:lpstr>
      <vt:lpstr>Map-reduce daemons</vt:lpstr>
      <vt:lpstr>JobTracker</vt:lpstr>
      <vt:lpstr>Task Tracker</vt:lpstr>
      <vt:lpstr>Map-reduce execution pipeline</vt:lpstr>
      <vt:lpstr>Mapper</vt:lpstr>
      <vt:lpstr>Reducer</vt:lpstr>
      <vt:lpstr>PowerPoint Presentation</vt:lpstr>
      <vt:lpstr>MapReduce Execution Framework</vt:lpstr>
      <vt:lpstr>Yarn Architecture</vt:lpstr>
      <vt:lpstr>YARN(Yet Another Resource Negotiator)</vt:lpstr>
      <vt:lpstr>YARN daemons</vt:lpstr>
      <vt:lpstr>YARN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kimmi.msrit@gmail.com</dc:creator>
  <cp:lastModifiedBy>Suhel Khan</cp:lastModifiedBy>
  <cp:revision>9</cp:revision>
  <dcterms:created xsi:type="dcterms:W3CDTF">2024-08-12T09:57:55Z</dcterms:created>
  <dcterms:modified xsi:type="dcterms:W3CDTF">2026-08-19T04:07:11Z</dcterms:modified>
</cp:coreProperties>
</file>